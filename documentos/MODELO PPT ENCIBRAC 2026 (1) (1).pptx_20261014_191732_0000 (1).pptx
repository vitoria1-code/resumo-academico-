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Verdana Bold" charset="1" panose="020B0804030504040204"/>
      <p:regular r:id="rId16"/>
    </p:embeddedFont>
    <p:embeddedFont>
      <p:font typeface="Verdana" charset="1" panose="020B0604030504040204"/>
      <p:regular r:id="rId17"/>
    </p:embeddedFont>
    <p:embeddedFont>
      <p:font typeface="Segoe UI" charset="1" panose="020B0502040204020203"/>
      <p:regular r:id="rId18"/>
    </p:embeddedFont>
    <p:embeddedFont>
      <p:font typeface="Verdana Italics" charset="1" panose="020B06040305040B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funil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27456" y="4145756"/>
            <a:ext cx="6650831" cy="1995488"/>
            <a:chOff x="0" y="0"/>
            <a:chExt cx="8867775" cy="2660650"/>
          </a:xfrm>
        </p:grpSpPr>
        <p:sp>
          <p:nvSpPr>
            <p:cNvPr name="Freeform 5" id="5" descr="Logotipo  Descrição gerada automaticamente com confiança baixa"/>
            <p:cNvSpPr/>
            <p:nvPr/>
          </p:nvSpPr>
          <p:spPr>
            <a:xfrm flipH="false" flipV="false" rot="0">
              <a:off x="0" y="0"/>
              <a:ext cx="8867775" cy="2660650"/>
            </a:xfrm>
            <a:custGeom>
              <a:avLst/>
              <a:gdLst/>
              <a:ahLst/>
              <a:cxnLst/>
              <a:rect r="r" b="b" t="t" l="l"/>
              <a:pathLst>
                <a:path h="2660650" w="8867775">
                  <a:moveTo>
                    <a:pt x="0" y="0"/>
                  </a:moveTo>
                  <a:lnTo>
                    <a:pt x="8867775" y="0"/>
                  </a:lnTo>
                  <a:lnTo>
                    <a:pt x="8867775" y="2660650"/>
                  </a:lnTo>
                  <a:lnTo>
                    <a:pt x="0" y="2660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9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4312920"/>
            <a:ext cx="9203531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9"/>
              </a:lnSpc>
            </a:pPr>
            <a:r>
              <a:rPr lang="en-US" sz="3099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O Uso Abundante de Água pelas Empresas de Tecnologia.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82955" y="3401911"/>
            <a:ext cx="466947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Profa. Isabella Luiza Dos Santos Souza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Vitória Tiemmy Carvalho Oda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22810" y="8943975"/>
            <a:ext cx="438480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Análise e Desenvolvimento de Sistemas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87650" y="5479409"/>
            <a:ext cx="438480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Inteligência artificial; Data centers; Regularização.</a:t>
            </a:r>
          </a:p>
          <a:p>
            <a:pPr algn="r">
              <a:lnSpc>
                <a:spcPts val="18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6792516" y="8896607"/>
            <a:ext cx="2012156" cy="604838"/>
            <a:chOff x="0" y="0"/>
            <a:chExt cx="2682875" cy="806450"/>
          </a:xfrm>
        </p:grpSpPr>
        <p:sp>
          <p:nvSpPr>
            <p:cNvPr name="Freeform 9" id="9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415212" y="8153636"/>
            <a:ext cx="144544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2026.10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1059" y="3050858"/>
            <a:ext cx="9013507" cy="2289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Os impactos ambientais dos data centers de IA 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 PROBLEMÁTICA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onscientizar sobre o uso excessivo de água pelas empresas de tecnologia - JUSTIFICATIVA</a:t>
            </a:r>
          </a:p>
          <a:p>
            <a:pPr algn="l" marL="380048" indent="-190024" lvl="1">
              <a:lnSpc>
                <a:spcPts val="2268"/>
              </a:lnSpc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8262938" y="9046369"/>
            <a:ext cx="2012156" cy="604838"/>
            <a:chOff x="0" y="0"/>
            <a:chExt cx="2682875" cy="806450"/>
          </a:xfrm>
        </p:grpSpPr>
        <p:sp>
          <p:nvSpPr>
            <p:cNvPr name="Freeform 6" id="6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51059" y="955357"/>
            <a:ext cx="6210776" cy="739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1059" y="3050858"/>
            <a:ext cx="9013507" cy="400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Alertar sobre o alto consumo de água a cada utilização da inteligência artificial, e seus impactos 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– OBJETIVO GERAL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Os impactos que os data centers podem causar no meio ambiente 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– OBJETIVOS ESPECÍFICOS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Quantidade de água que os data centers usam em alta demanda – OBJETIVOS ESPECÍFICOS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falta da regulamentação dos data centers no Brasil – OBJETIVOS ESPECÍFICOS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8262938" y="9046369"/>
            <a:ext cx="2012156" cy="604838"/>
            <a:chOff x="0" y="0"/>
            <a:chExt cx="2682875" cy="806450"/>
          </a:xfrm>
        </p:grpSpPr>
        <p:sp>
          <p:nvSpPr>
            <p:cNvPr name="Freeform 6" id="6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51059" y="955357"/>
            <a:ext cx="6210776" cy="739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INTRODUÇÃO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63825" y="9046369"/>
            <a:ext cx="2012156" cy="604838"/>
            <a:chOff x="0" y="0"/>
            <a:chExt cx="2682875" cy="806450"/>
          </a:xfrm>
        </p:grpSpPr>
        <p:sp>
          <p:nvSpPr>
            <p:cNvPr name="Freeform 5" id="5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36543" y="1212532"/>
            <a:ext cx="7741920" cy="143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METODOLOGIA/MÉTODO DA PESQUISA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36543" y="4153443"/>
            <a:ext cx="9013507" cy="1072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É uma abordagem qualitativa, de natureza teórica, sem procedimentos práticos e baseados em referenciais teóricos. </a:t>
            </a:r>
          </a:p>
          <a:p>
            <a:pPr algn="l">
              <a:lnSpc>
                <a:spcPts val="2916"/>
              </a:lnSpc>
            </a:pPr>
          </a:p>
          <a:p>
            <a:pPr algn="l">
              <a:lnSpc>
                <a:spcPts val="291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62938" y="9046369"/>
            <a:ext cx="2012156" cy="604838"/>
            <a:chOff x="0" y="0"/>
            <a:chExt cx="2682875" cy="806450"/>
          </a:xfrm>
        </p:grpSpPr>
        <p:sp>
          <p:nvSpPr>
            <p:cNvPr name="Freeform 5" id="5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1059" y="955357"/>
            <a:ext cx="6210776" cy="143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FUNDAMENTAÇÃO TEÓRICA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1059" y="3050858"/>
            <a:ext cx="9013507" cy="371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crise socioambiental no sul global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Risco hídrico global E Rafael Bezerra e Andrea Brito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expansão da infraestrutura digital e a segurança hídrica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Acesso a água no contexto da sociedade tecnológica E Valéria Reginato e Deise Silva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Regularizações dos data centers no Brasil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direito e desenvolvimento da proteção ambiental E Bruno Nassar e Alexandre Moraes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47169" y="9232106"/>
            <a:ext cx="2012156" cy="604838"/>
            <a:chOff x="0" y="0"/>
            <a:chExt cx="2682875" cy="806450"/>
          </a:xfrm>
        </p:grpSpPr>
        <p:sp>
          <p:nvSpPr>
            <p:cNvPr name="Freeform 5" id="5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354378" y="1312545"/>
            <a:ext cx="6210776" cy="143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CONSIDERAÇÕES FINAIS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4378" y="3257137"/>
            <a:ext cx="9522830" cy="4717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Alto consumo de recursos: Exige volumes exorbitante de água potável.</a:t>
            </a:r>
          </a:p>
          <a:p>
            <a:pPr algn="l">
              <a:lnSpc>
                <a:spcPts val="2916"/>
              </a:lnSpc>
            </a:pPr>
          </a:p>
          <a:p>
            <a:pPr algn="l" marL="488632" indent="-244316" lvl="1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Ameaça à segurança hídrica: Treinamento e resfriamento de servidores geram m³ de gasto de água doce.</a:t>
            </a:r>
          </a:p>
          <a:p>
            <a:pPr algn="l">
              <a:lnSpc>
                <a:spcPts val="2916"/>
              </a:lnSpc>
            </a:pPr>
          </a:p>
          <a:p>
            <a:pPr algn="l" marL="488632" indent="-244316" lvl="1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Foco em prevenção: Legislação voltada à proteção socioambiental. </a:t>
            </a:r>
          </a:p>
          <a:p>
            <a:pPr algn="l">
              <a:lnSpc>
                <a:spcPts val="2916"/>
              </a:lnSpc>
            </a:pPr>
          </a:p>
          <a:p>
            <a:pPr algn="l" marL="488632" indent="-244316" lvl="1">
              <a:lnSpc>
                <a:spcPts val="2916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Tecnologias limpas: Incentivo a energia renovável e resfriamento em circuito fechado ou imersão. </a:t>
            </a:r>
          </a:p>
          <a:p>
            <a:pPr algn="l">
              <a:lnSpc>
                <a:spcPts val="29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1059" y="3293745"/>
            <a:ext cx="9013507" cy="428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sede do leviatã digital: risco hídrico global, inteligência artificial e a crise socioambiental da infraestrutura no sul global. Disponível em: https://doi.org/10.18391/9cbm5k51. Acesso em: 10/10/2026.</a:t>
            </a:r>
          </a:p>
          <a:p>
            <a:pPr algn="l">
              <a:lnSpc>
                <a:spcPts val="2268"/>
              </a:lnSpc>
            </a:pPr>
          </a:p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Acesso à água no contexto da sociedade tecnológica na tensão entre a expansão da infraestrutura digital e a segurança hídrica – o caso dos data centers no Ceará. Disponível em: https://doi.org/10.48159/revistadoidcc.v9n2.e125. Acesso em: 10/10/2026.</a:t>
            </a:r>
          </a:p>
          <a:p>
            <a:pPr algn="l">
              <a:lnSpc>
                <a:spcPts val="2268"/>
              </a:lnSpc>
            </a:pPr>
          </a:p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Regulação de data centers no Brasil: entre o direito ao desenvolvimento e a proteção ambiental. Disponível em: https://doi.org/10.62530/e026023. Acesso em: 10/10/2026.</a:t>
            </a:r>
          </a:p>
          <a:p>
            <a:pPr algn="l">
              <a:lnSpc>
                <a:spcPts val="226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8262938" y="9046369"/>
            <a:ext cx="2012156" cy="604838"/>
            <a:chOff x="0" y="0"/>
            <a:chExt cx="2682875" cy="806450"/>
          </a:xfrm>
        </p:grpSpPr>
        <p:sp>
          <p:nvSpPr>
            <p:cNvPr name="Freeform 6" id="6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47499" y="1312545"/>
            <a:ext cx="6210776" cy="143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REFERÊNCIA BIBLIOGRÁFICA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Uma imagem contendo Retângulo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206240" y="4429125"/>
            <a:ext cx="987552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i="true">
                <a:solidFill>
                  <a:srgbClr val="FFFFFF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“Agradeço a atenção ”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Uma imagem contendo Forma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4994" y="4145756"/>
            <a:ext cx="6650831" cy="1995488"/>
            <a:chOff x="0" y="0"/>
            <a:chExt cx="8867775" cy="2660650"/>
          </a:xfrm>
        </p:grpSpPr>
        <p:sp>
          <p:nvSpPr>
            <p:cNvPr name="Freeform 5" id="5" descr="Logotipo  Descrição gerada automaticamente com confiança baixa"/>
            <p:cNvSpPr/>
            <p:nvPr/>
          </p:nvSpPr>
          <p:spPr>
            <a:xfrm flipH="false" flipV="false" rot="0">
              <a:off x="0" y="0"/>
              <a:ext cx="8867775" cy="2660650"/>
            </a:xfrm>
            <a:custGeom>
              <a:avLst/>
              <a:gdLst/>
              <a:ahLst/>
              <a:cxnLst/>
              <a:rect r="r" b="b" t="t" l="l"/>
              <a:pathLst>
                <a:path h="2660650" w="8867775">
                  <a:moveTo>
                    <a:pt x="0" y="0"/>
                  </a:moveTo>
                  <a:lnTo>
                    <a:pt x="8867775" y="0"/>
                  </a:lnTo>
                  <a:lnTo>
                    <a:pt x="8867775" y="2660650"/>
                  </a:lnTo>
                  <a:lnTo>
                    <a:pt x="0" y="2660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9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DAHXuVuXQ84</dc:identifier>
  <dcterms:modified xsi:type="dcterms:W3CDTF">2011-08-01T06:04:30Z</dcterms:modified>
  <cp:revision>1</cp:revision>
  <dc:title>MODELO PPT ENCIBRAC 2026 (1) (1).pptx</dc:title>
</cp:coreProperties>
</file>